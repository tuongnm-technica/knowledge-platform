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9728"/>
            <a:ext cx="2286000" cy="4924044"/>
          </a:xfrm>
          <a:prstGeom prst="rect">
            <a:avLst/>
          </a:prstGeom>
          <a:solidFill>
            <a:srgbClr val="0A2050"/>
          </a:solidFill>
          <a:ln w="12700">
            <a:solidFill>
              <a:srgbClr val="0A2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249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Tổng quan Hệ thống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 2.0  •  30/03/2026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097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phát triển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(Internal Tool)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Embedding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hoàn toàn local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BA, 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Dev, QA (nội bộ)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Hệ thống này làm gì?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phục vụ 3 mục tiêu chiến lược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|  Tài liệu Tổng quan Hệ thống  |  v2.0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2651760" cy="3493008"/>
          </a:xfrm>
          <a:prstGeom prst="rect">
            <a:avLst/>
          </a:prstGeom>
          <a:solidFill>
            <a:srgbClr val="E8EEF8"/>
          </a:solidFill>
          <a:ln w="1905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2651760" cy="3657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Mục tiêu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thông minh trong tài liệu nội bộ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câu hỏi bằng ngôn ngữ tự nhiên, nhận câu trả lời tổng hợp từ Jira, Confluence, Slack, File Server...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2423160" cy="0"/>
          </a:xfrm>
          <a:prstGeom prst="line">
            <a:avLst/>
          </a:prstGeom>
          <a:noFill/>
          <a:ln w="6350">
            <a:solidFill>
              <a:srgbClr val="1A56A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Hữu ích cho nhân viên mới: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12724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cận dự án nhanh hơn — hỏi thẳng hệ thống thay vì tự đọc tài liệu và hỏi từng người.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51760" cy="3493008"/>
          </a:xfrm>
          <a:prstGeom prst="rect">
            <a:avLst/>
          </a:prstGeom>
          <a:solidFill>
            <a:srgbClr val="FFFBF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Mục tiêu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soạn thảo tài liệu SDLC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AI agent phối hợp tạo SRS, BRD, Test Plan, ADR, Release Notes... từ yêu cầu nghiệp vụ.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816352"/>
            <a:ext cx="2423160" cy="0"/>
          </a:xfrm>
          <a:prstGeom prst="line">
            <a:avLst/>
          </a:prstGeom>
          <a:noFill/>
          <a:ln w="635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Hữu ích cho PM/BA: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12724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yêu cầu nghiệp vụ → nhận bản nháp đầy đủ để review, tập trung vào nội dung thay vì format.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1234440"/>
            <a:ext cx="2651760" cy="3493008"/>
          </a:xfrm>
          <a:prstGeom prst="rect">
            <a:avLst/>
          </a:prstGeom>
          <a:solidFill>
            <a:srgbClr val="D6EFD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234440"/>
            <a:ext cx="265176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Mục tiêu 3  —  Điểm nổi bật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phát hiện &amp; tạo task từ tín hiệu nội bộ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Slack &amp; Confluence → AI trích xuất task → PM/PO review → submit lên Jira. Không cần nhập thủ công.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2816352"/>
            <a:ext cx="2423160" cy="0"/>
          </a:xfrm>
          <a:prstGeom prst="line">
            <a:avLst/>
          </a:prstGeom>
          <a:noFill/>
          <a:ln w="6350">
            <a:solidFill>
              <a:srgbClr val="1A7A4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Lợi ích: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12724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công việc thủ công, không bỏ sót task phát sinh từ các cuộc thảo luận.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55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vi-VN" sz="2400" b="1" dirty="0">
                <a:solidFill>
                  <a:srgbClr val="FFFFFF"/>
                </a:solidFill>
                <a:latin typeface="Arial" pitchFamily="34" charset="0"/>
              </a:rPr>
              <a:t>2. Kien truc tong the</a:t>
            </a:r>
          </a:p>
        </p:txBody>
      </p:sp>
      <p:sp>
        <p:nvSpPr>
          <p:cNvPr id="6" name="Text 4"/>
          <p:cNvSpPr/>
          <p:nvPr/>
        </p:nvSpPr>
        <p:spPr>
          <a:xfrm>
            <a:off x="228600" y="61480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vi-VN" sz="1100" i="1" dirty="0">
                <a:solidFill>
                  <a:srgbClr val="AABCD8"/>
                </a:solidFill>
                <a:latin typeface="Arial" pitchFamily="34" charset="0"/>
              </a:rPr>
              <a:t>Cac thanh phan ket noi qua REST / SSE va background job queue</a:t>
            </a:r>
          </a:p>
        </p:txBody>
      </p:sp>
      <p:sp>
        <p:nvSpPr>
          <p:cNvPr id="10" name="Box_Frontend"/>
          <p:cNvSpPr/>
          <p:nvPr/>
        </p:nvSpPr>
        <p:spPr>
          <a:xfrm>
            <a:off x="3048000" y="1000440"/>
            <a:ext cx="3048000" cy="457200"/>
          </a:xfrm>
          <a:prstGeom prst="rect">
            <a:avLst/>
          </a:prstGeom>
          <a:solidFill>
            <a:srgbClr val="E8F0FA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11" name="Bar_Frontend"/>
          <p:cNvSpPr/>
          <p:nvPr/>
        </p:nvSpPr>
        <p:spPr>
          <a:xfrm>
            <a:off x="3048000" y="1000440"/>
            <a:ext cx="64008" cy="45720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</p:sp>
      <p:sp>
        <p:nvSpPr>
          <p:cNvPr id="12" name="Txt_Frontend"/>
          <p:cNvSpPr/>
          <p:nvPr/>
        </p:nvSpPr>
        <p:spPr>
          <a:xfrm>
            <a:off x="3148800" y="1000440"/>
            <a:ext cx="2947200" cy="457200"/>
          </a:xfrm>
          <a:prstGeom prst="rect">
            <a:avLst/>
          </a:prstGeom>
          <a:noFill/>
          <a:ln/>
        </p:spPr>
        <p:txBody>
          <a:bodyPr wrap="square" rtlCol="0" anchor="ctr" lIns="91440" rIns="91440"/>
          <a:lstStyle/>
          <a:p>
            <a:pPr indent="0" marL="0">
              <a:buNone/>
            </a:pPr>
            <a:r>
              <a:rPr lang="vi-VN" sz="1100" b="1" dirty="0">
                <a:solidFill>
                  <a:srgbClr val="1A56A0"/>
                </a:solidFill>
                <a:latin typeface="Arial" pitchFamily="34" charset="0"/>
              </a:rPr>
              <a:t>NGUOI DUNG (Browser)</a:t>
            </a:r>
          </a:p>
          <a:p>
            <a:pPr indent="0" marL="0">
              <a:buNone/>
            </a:pPr>
            <a:r>
              <a:rPr lang="vi-VN" sz="900" i="1" dirty="0">
                <a:solidFill>
                  <a:srgbClr val="555555"/>
                </a:solidFill>
                <a:latin typeface="Arial" pitchFamily="34" charset="0"/>
              </a:rPr>
              <a:t>TypeScript SPA - Navigo routing, RBAC</a:t>
            </a:r>
          </a:p>
        </p:txBody>
      </p:sp>
      <p:sp>
        <p:nvSpPr>
          <p:cNvPr id="20" name="Arrow1"/>
          <p:cNvSpPr/>
          <p:nvPr/>
        </p:nvSpPr>
        <p:spPr>
          <a:xfrm>
            <a:off x="4572000" y="1457640"/>
            <a:ext cx="0" cy="200025"/>
          </a:xfrm>
          <a:prstGeom prst="line">
            <a:avLst/>
          </a:prstGeom>
          <a:noFill/>
          <a:ln w="25400" cap="flat">
            <a:solidFill>
              <a:srgbClr val="1A56A0"/>
            </a:solidFill>
            <a:prstDash val="solid"/>
            <a:headEnd type="none"/>
            <a:tailEnd type="triangle" w="sm" len="sm"/>
          </a:ln>
        </p:spPr>
      </p:sp>
      <p:sp>
        <p:nvSpPr>
          <p:cNvPr id="21" name="ArrowLabel1"/>
          <p:cNvSpPr/>
          <p:nvPr/>
        </p:nvSpPr>
        <p:spPr>
          <a:xfrm>
            <a:off x="4622400" y="1492920"/>
            <a:ext cx="6858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vi-VN" sz="800" i="1" dirty="0">
                <a:solidFill>
                  <a:srgbClr val="888888"/>
                </a:solidFill>
                <a:latin typeface="Arial" pitchFamily="34" charset="0"/>
              </a:rPr>
              <a:t>REST / SSE</a:t>
            </a:r>
          </a:p>
        </p:txBody>
      </p:sp>
      <p:sp>
        <p:nvSpPr>
          <p:cNvPr id="30" name="Box_API"/>
          <p:cNvSpPr/>
          <p:nvPr/>
        </p:nvSpPr>
        <p:spPr>
          <a:xfrm>
            <a:off x="1524000" y="1657800"/>
            <a:ext cx="6096000" cy="571500"/>
          </a:xfrm>
          <a:prstGeom prst="rect">
            <a:avLst/>
          </a:prstGeom>
          <a:solidFill>
            <a:srgbClr val="E8F0FA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31" name="Bar_API"/>
          <p:cNvSpPr/>
          <p:nvPr/>
        </p:nvSpPr>
        <p:spPr>
          <a:xfrm>
            <a:off x="1524000" y="1657800"/>
            <a:ext cx="64008" cy="57150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</p:sp>
      <p:sp>
        <p:nvSpPr>
          <p:cNvPr id="32" name="Txt_API"/>
          <p:cNvSpPr/>
          <p:nvPr/>
        </p:nvSpPr>
        <p:spPr>
          <a:xfrm>
            <a:off x="1625400" y="1657800"/>
            <a:ext cx="5994600" cy="571500"/>
          </a:xfrm>
          <a:prstGeom prst="rect">
            <a:avLst/>
          </a:prstGeom>
          <a:noFill/>
          <a:ln/>
        </p:spPr>
        <p:txBody>
          <a:bodyPr wrap="square" rtlCol="0" anchor="ctr" lIns="91440" rIns="91440"/>
          <a:lstStyle/>
          <a:p>
            <a:pPr indent="0" marL="0">
              <a:buNone/>
            </a:pPr>
            <a:r>
              <a:rPr lang="vi-VN" sz="1200" b="1" dirty="0">
                <a:solidFill>
                  <a:srgbClr val="1A56A0"/>
                </a:solidFill>
                <a:latin typeface="Arial" pitchFamily="34" charset="0"/>
              </a:rPr>
              <a:t>API Server - FastAPI (port 8000)</a:t>
            </a:r>
          </a:p>
          <a:p>
            <a:pPr indent="0" marL="0">
              <a:buNone/>
            </a:pPr>
            <a:r>
              <a:rPr lang="vi-VN" sz="850" i="1" dirty="0">
                <a:solidFill>
                  <a:srgbClr val="555555"/>
                </a:solidFill>
                <a:latin typeface="Consolas" pitchFamily="49" charset="0"/>
              </a:rPr>
              <a:t>/api/auth  /api/ask  /api/search  /api/docs  /api/tasks  /api/graph  /api/connectors  /api/users  ...  Proxy: /api/sdlc/*</a:t>
            </a:r>
          </a:p>
        </p:txBody>
      </p:sp>
      <p:sp>
        <p:nvSpPr>
          <p:cNvPr id="40" name="Arr_DB"/>
          <p:cNvSpPr/>
          <p:nvPr/>
        </p:nvSpPr>
        <p:spPr>
          <a:xfrm>
            <a:off x="1143000" y="2229300"/>
            <a:ext cx="0" cy="228600"/>
          </a:xfrm>
          <a:prstGeom prst="line">
            <a:avLst/>
          </a:prstGeom>
          <a:noFill/>
          <a:ln w="19050" cap="flat">
            <a:solidFill>
              <a:srgbClr val="888888"/>
            </a:solidFill>
            <a:prstDash val="solid"/>
            <a:tailEnd type="triangle" w="sm" len="sm"/>
          </a:ln>
        </p:spPr>
      </p:sp>
      <p:sp>
        <p:nvSpPr>
          <p:cNvPr id="41" name="Arr_Qdrant"/>
          <p:cNvSpPr/>
          <p:nvPr/>
        </p:nvSpPr>
        <p:spPr>
          <a:xfrm>
            <a:off x="2971800" y="2229300"/>
            <a:ext cx="0" cy="228600"/>
          </a:xfrm>
          <a:prstGeom prst="line">
            <a:avLst/>
          </a:prstGeom>
          <a:noFill/>
          <a:ln w="19050" cap="flat">
            <a:solidFill>
              <a:srgbClr val="888888"/>
            </a:solidFill>
            <a:prstDash val="solid"/>
            <a:tailEnd type="triangle" w="sm" len="sm"/>
          </a:ln>
        </p:spPr>
      </p:sp>
      <p:sp>
        <p:nvSpPr>
          <p:cNvPr id="42" name="Arr_Redis"/>
          <p:cNvSpPr/>
          <p:nvPr/>
        </p:nvSpPr>
        <p:spPr>
          <a:xfrm>
            <a:off x="4876800" y="2229300"/>
            <a:ext cx="0" cy="228600"/>
          </a:xfrm>
          <a:prstGeom prst="line">
            <a:avLst/>
          </a:prstGeom>
          <a:noFill/>
          <a:ln w="19050" cap="flat">
            <a:solidFill>
              <a:srgbClr val="888888"/>
            </a:solidFill>
            <a:prstDash val="solid"/>
            <a:tailEnd type="triangle" w="sm" len="sm"/>
          </a:ln>
        </p:spPr>
      </p:sp>
      <p:sp>
        <p:nvSpPr>
          <p:cNvPr id="43" name="Arr_RAG"/>
          <p:cNvSpPr/>
          <p:nvPr/>
        </p:nvSpPr>
        <p:spPr>
          <a:xfrm>
            <a:off x="6858000" y="2229300"/>
            <a:ext cx="0" cy="228600"/>
          </a:xfrm>
          <a:prstGeom prst="line">
            <a:avLst/>
          </a:prstGeom>
          <a:noFill/>
          <a:ln w="19050" cap="flat">
            <a:solidFill>
              <a:srgbClr val="888888"/>
            </a:solidFill>
            <a:prstDash val="solid"/>
            <a:tailEnd type="triangle" w="sm" len="sm"/>
          </a:ln>
        </p:spPr>
      </p:sp>
      <p:sp>
        <p:nvSpPr>
          <p:cNvPr id="50" name="Box_PG"/>
          <p:cNvSpPr/>
          <p:nvPr/>
        </p:nvSpPr>
        <p:spPr>
          <a:xfrm>
            <a:off x="228600" y="2457900"/>
            <a:ext cx="1828800" cy="502920"/>
          </a:xfrm>
          <a:prstGeom prst="rect">
            <a:avLst/>
          </a:prstGeom>
          <a:solidFill>
            <a:srgbClr val="EAF4EE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51" name="Bar_PG"/>
          <p:cNvSpPr/>
          <p:nvPr/>
        </p:nvSpPr>
        <p:spPr>
          <a:xfrm>
            <a:off x="228600" y="2457900"/>
            <a:ext cx="57150" cy="502920"/>
          </a:xfrm>
          <a:prstGeom prst="rect">
            <a:avLst/>
          </a:prstGeom>
          <a:solidFill>
            <a:srgbClr val="1A7A4A"/>
          </a:solidFill>
          <a:ln w="0">
            <a:noFill/>
          </a:ln>
        </p:spPr>
      </p:sp>
      <p:sp>
        <p:nvSpPr>
          <p:cNvPr id="52" name="Txt_PG"/>
          <p:cNvSpPr/>
          <p:nvPr/>
        </p:nvSpPr>
        <p:spPr>
          <a:xfrm>
            <a:off x="310800" y="2457900"/>
            <a:ext cx="1746600" cy="502920"/>
          </a:xfrm>
          <a:prstGeom prst="rect">
            <a:avLst/>
          </a:prstGeom>
          <a:noFill/>
          <a:ln/>
        </p:spPr>
        <p:txBody>
          <a:bodyPr wrap="square" rtlCol="0" anchor="ctr" lIns="60960" rIns="60960"/>
          <a:lstStyle/>
          <a:p>
            <a:pPr indent="0" marL="0">
              <a:buNone/>
            </a:pPr>
            <a:r>
              <a:rPr lang="vi-VN" sz="1050" b="1" dirty="0">
                <a:solidFill>
                  <a:srgbClr val="1A7A4A"/>
                </a:solidFill>
                <a:latin typeface="Arial" pitchFamily="34" charset="0"/>
              </a:rPr>
              <a:t>PostgreSQL</a:t>
            </a:r>
          </a:p>
          <a:p>
            <a:pPr indent="0" marL="0">
              <a:buNone/>
            </a:pPr>
            <a:r>
              <a:rPr lang="vi-VN" sz="850" dirty="0">
                <a:solidFill>
                  <a:srgbClr val="555555"/>
                </a:solidFill>
                <a:latin typeface="Arial" pitchFamily="34" charset="0"/>
              </a:rPr>
              <a:t>Database local</a:t>
            </a:r>
          </a:p>
        </p:txBody>
      </p:sp>
      <p:sp>
        <p:nvSpPr>
          <p:cNvPr id="55" name="Box_Qdrant"/>
          <p:cNvSpPr/>
          <p:nvPr/>
        </p:nvSpPr>
        <p:spPr>
          <a:xfrm>
            <a:off x="2133600" y="2457900"/>
            <a:ext cx="1676400" cy="502920"/>
          </a:xfrm>
          <a:prstGeom prst="rect">
            <a:avLst/>
          </a:prstGeom>
          <a:solidFill>
            <a:srgbClr val="EAF4EE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56" name="Bar_Qdrant"/>
          <p:cNvSpPr/>
          <p:nvPr/>
        </p:nvSpPr>
        <p:spPr>
          <a:xfrm>
            <a:off x="2133600" y="2457900"/>
            <a:ext cx="57150" cy="502920"/>
          </a:xfrm>
          <a:prstGeom prst="rect">
            <a:avLst/>
          </a:prstGeom>
          <a:solidFill>
            <a:srgbClr val="1A7A4A"/>
          </a:solidFill>
          <a:ln w="0">
            <a:noFill/>
          </a:ln>
        </p:spPr>
      </p:sp>
      <p:sp>
        <p:nvSpPr>
          <p:cNvPr id="57" name="Txt_Qdrant"/>
          <p:cNvSpPr/>
          <p:nvPr/>
        </p:nvSpPr>
        <p:spPr>
          <a:xfrm>
            <a:off x="2215800" y="2457900"/>
            <a:ext cx="1594200" cy="502920"/>
          </a:xfrm>
          <a:prstGeom prst="rect">
            <a:avLst/>
          </a:prstGeom>
          <a:noFill/>
          <a:ln/>
        </p:spPr>
        <p:txBody>
          <a:bodyPr wrap="square" rtlCol="0" anchor="ctr" lIns="60960" rIns="60960"/>
          <a:lstStyle/>
          <a:p>
            <a:pPr indent="0" marL="0">
              <a:buNone/>
            </a:pPr>
            <a:r>
              <a:rPr lang="vi-VN" sz="1050" b="1" dirty="0">
                <a:solidFill>
                  <a:srgbClr val="1A7A4A"/>
                </a:solidFill>
                <a:latin typeface="Arial" pitchFamily="34" charset="0"/>
              </a:rPr>
              <a:t>Qdrant Vector DB</a:t>
            </a:r>
          </a:p>
          <a:p>
            <a:pPr indent="0" marL="0">
              <a:buNone/>
            </a:pPr>
            <a:r>
              <a:rPr lang="vi-VN" sz="850" dirty="0">
                <a:solidFill>
                  <a:srgbClr val="555555"/>
                </a:solidFill>
                <a:latin typeface="Arial" pitchFamily="34" charset="0"/>
              </a:rPr>
              <a:t>Docker - Semantic search</a:t>
            </a:r>
          </a:p>
        </p:txBody>
      </p:sp>
      <p:sp>
        <p:nvSpPr>
          <p:cNvPr id="60" name="Box_Redis"/>
          <p:cNvSpPr/>
          <p:nvPr/>
        </p:nvSpPr>
        <p:spPr>
          <a:xfrm>
            <a:off x="3886200" y="2457900"/>
            <a:ext cx="1752600" cy="502920"/>
          </a:xfrm>
          <a:prstGeom prst="rect">
            <a:avLst/>
          </a:prstGeom>
          <a:solidFill>
            <a:srgbClr val="EAF4EE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61" name="Bar_Redis"/>
          <p:cNvSpPr/>
          <p:nvPr/>
        </p:nvSpPr>
        <p:spPr>
          <a:xfrm>
            <a:off x="3886200" y="2457900"/>
            <a:ext cx="57150" cy="502920"/>
          </a:xfrm>
          <a:prstGeom prst="rect">
            <a:avLst/>
          </a:prstGeom>
          <a:solidFill>
            <a:srgbClr val="1A7A4A"/>
          </a:solidFill>
          <a:ln w="0">
            <a:noFill/>
          </a:ln>
        </p:spPr>
      </p:sp>
      <p:sp>
        <p:nvSpPr>
          <p:cNvPr id="62" name="Txt_Redis"/>
          <p:cNvSpPr/>
          <p:nvPr/>
        </p:nvSpPr>
        <p:spPr>
          <a:xfrm>
            <a:off x="3968400" y="2457900"/>
            <a:ext cx="1670400" cy="502920"/>
          </a:xfrm>
          <a:prstGeom prst="rect">
            <a:avLst/>
          </a:prstGeom>
          <a:noFill/>
          <a:ln/>
        </p:spPr>
        <p:txBody>
          <a:bodyPr wrap="square" rtlCol="0" anchor="ctr" lIns="60960" rIns="60960"/>
          <a:lstStyle/>
          <a:p>
            <a:pPr indent="0" marL="0">
              <a:buNone/>
            </a:pPr>
            <a:r>
              <a:rPr lang="vi-VN" sz="1050" b="1" dirty="0">
                <a:solidFill>
                  <a:srgbClr val="1A7A4A"/>
                </a:solidFill>
                <a:latin typeface="Arial" pitchFamily="34" charset="0"/>
              </a:rPr>
              <a:t>Redis arq</a:t>
            </a:r>
          </a:p>
          <a:p>
            <a:pPr indent="0" marL="0">
              <a:buNone/>
            </a:pPr>
            <a:r>
              <a:rPr lang="vi-VN" sz="850" dirty="0">
                <a:solidFill>
                  <a:srgbClr val="555555"/>
                </a:solidFill>
                <a:latin typeface="Arial" pitchFamily="34" charset="0"/>
              </a:rPr>
              <a:t>Docker - Job queue</a:t>
            </a:r>
          </a:p>
        </p:txBody>
      </p:sp>
      <p:sp>
        <p:nvSpPr>
          <p:cNvPr id="65" name="Box_RAG"/>
          <p:cNvSpPr/>
          <p:nvPr/>
        </p:nvSpPr>
        <p:spPr>
          <a:xfrm>
            <a:off x="5715000" y="2457900"/>
            <a:ext cx="3200400" cy="502920"/>
          </a:xfrm>
          <a:prstGeom prst="rect">
            <a:avLst/>
          </a:prstGeom>
          <a:solidFill>
            <a:srgbClr val="FFF4E6"/>
          </a:solidFill>
          <a:ln w="19050">
            <a:solidFill>
              <a:srgbClr val="C05A00"/>
            </a:solidFill>
            <a:prstDash val="solid"/>
          </a:ln>
        </p:spPr>
      </p:sp>
      <p:sp>
        <p:nvSpPr>
          <p:cNvPr id="66" name="Bar_RAG"/>
          <p:cNvSpPr/>
          <p:nvPr/>
        </p:nvSpPr>
        <p:spPr>
          <a:xfrm>
            <a:off x="5715000" y="2457900"/>
            <a:ext cx="57150" cy="502920"/>
          </a:xfrm>
          <a:prstGeom prst="rect">
            <a:avLst/>
          </a:prstGeom>
          <a:solidFill>
            <a:srgbClr val="C05A00"/>
          </a:solidFill>
          <a:ln w="0">
            <a:noFill/>
          </a:ln>
        </p:spPr>
      </p:sp>
      <p:sp>
        <p:nvSpPr>
          <p:cNvPr id="67" name="Txt_RAG"/>
          <p:cNvSpPr/>
          <p:nvPr/>
        </p:nvSpPr>
        <p:spPr>
          <a:xfrm>
            <a:off x="5797200" y="2457900"/>
            <a:ext cx="3118200" cy="502920"/>
          </a:xfrm>
          <a:prstGeom prst="rect">
            <a:avLst/>
          </a:prstGeom>
          <a:noFill/>
          <a:ln/>
        </p:spPr>
        <p:txBody>
          <a:bodyPr wrap="square" rtlCol="0" anchor="ctr" lIns="60960" rIns="60960"/>
          <a:lstStyle/>
          <a:p>
            <a:pPr indent="0" marL="0">
              <a:buNone/>
            </a:pPr>
            <a:r>
              <a:rPr lang="vi-VN" sz="1050" b="1" dirty="0">
                <a:solidFill>
                  <a:srgbClr val="C05A00"/>
                </a:solidFill>
                <a:latin typeface="Arial" pitchFamily="34" charset="0"/>
              </a:rPr>
              <a:t>rag_service : 8001 - SDLC / Orchestration</a:t>
            </a:r>
          </a:p>
          <a:p>
            <a:pPr indent="0" marL="0">
              <a:buNone/>
            </a:pPr>
            <a:r>
              <a:rPr lang="vi-VN" sz="850" dirty="0">
                <a:solidFill>
                  <a:srgbClr val="555555"/>
                </a:solidFill>
                <a:latin typeface="Arial" pitchFamily="34" charset="0"/>
              </a:rPr>
              <a:t>Dieu phoi 9 AI agent SDLC</a:t>
            </a:r>
          </a:p>
        </p:txBody>
      </p:sp>
      <p:sp>
        <p:nvSpPr>
          <p:cNvPr id="70" name="Arr_Workers"/>
          <p:cNvSpPr/>
          <p:nvPr/>
        </p:nvSpPr>
        <p:spPr>
          <a:xfrm>
            <a:off x="4762800" y="2960820"/>
            <a:ext cx="0" cy="209550"/>
          </a:xfrm>
          <a:prstGeom prst="line">
            <a:avLst/>
          </a:prstGeom>
          <a:noFill/>
          <a:ln w="19050" cap="flat">
            <a:solidFill>
              <a:srgbClr val="888888"/>
            </a:solidFill>
            <a:prstDash val="solid"/>
            <a:tailEnd type="triangle" w="sm" len="sm"/>
          </a:ln>
        </p:spPr>
      </p:sp>
      <p:sp>
        <p:nvSpPr>
          <p:cNvPr id="80" name="Box_Workers"/>
          <p:cNvSpPr/>
          <p:nvPr/>
        </p:nvSpPr>
        <p:spPr>
          <a:xfrm>
            <a:off x="2743200" y="3170370"/>
            <a:ext cx="4038600" cy="571500"/>
          </a:xfrm>
          <a:prstGeom prst="rect">
            <a:avLst/>
          </a:prstGeom>
          <a:solidFill>
            <a:srgbClr val="F0F4FF"/>
          </a:solidFill>
          <a:ln w="19050">
            <a:solidFill>
              <a:srgbClr val="6B5FBE"/>
            </a:solidFill>
            <a:prstDash val="dash"/>
          </a:ln>
        </p:spPr>
      </p:sp>
      <p:sp>
        <p:nvSpPr>
          <p:cNvPr id="81" name="Txt_WorkersLabel"/>
          <p:cNvSpPr/>
          <p:nvPr/>
        </p:nvSpPr>
        <p:spPr>
          <a:xfrm>
            <a:off x="2743200" y="3170370"/>
            <a:ext cx="4038600" cy="228600"/>
          </a:xfrm>
          <a:prstGeom prst="rect">
            <a:avLst/>
          </a:prstGeom>
          <a:noFill/>
          <a:ln/>
        </p:spPr>
        <p:txBody>
          <a:bodyPr wrap="square" rtlCol="0" anchor="ctr" lIns="91440"/>
          <a:lstStyle/>
          <a:p>
            <a:pPr indent="0" marL="0" algn="ctr">
              <a:buNone/>
            </a:pPr>
            <a:r>
              <a:rPr lang="vi-VN" sz="1100" b="1" dirty="0">
                <a:solidFill>
                  <a:srgbClr val="6B5FBE"/>
                </a:solidFill>
                <a:latin typeface="Arial" pitchFamily="34" charset="0"/>
              </a:rPr>
              <a:t>arq Workers</a:t>
            </a:r>
          </a:p>
        </p:txBody>
      </p:sp>
      <p:sp>
        <p:nvSpPr>
          <p:cNvPr id="82" name="Txt_WAI"/>
          <p:cNvSpPr/>
          <p:nvPr/>
        </p:nvSpPr>
        <p:spPr>
          <a:xfrm>
            <a:off x="2820600" y="3390270"/>
            <a:ext cx="1219200" cy="279400"/>
          </a:xfrm>
          <a:prstGeom prst="rect">
            <a:avLst/>
          </a:prstGeom>
          <a:solidFill>
            <a:srgbClr val="DDD8F8"/>
          </a:solidFill>
          <a:ln w="12700">
            <a:solidFill>
              <a:srgbClr val="6B5FBE"/>
            </a:solidFill>
            <a:prstDash val="solid"/>
          </a:ln>
        </p:spPr>
        <p:txBody>
          <a:bodyPr wrap="square" rtlCol="0" anchor="ctr" lIns="60960" rIns="60960"/>
          <a:lstStyle/>
          <a:p>
            <a:pPr indent="0" marL="0" algn="ctr">
              <a:buNone/>
            </a:pPr>
            <a:r>
              <a:rPr lang="vi-VN" sz="900" b="1" dirty="0">
                <a:solidFill>
                  <a:srgbClr val="4B3FA0"/>
                </a:solidFill>
                <a:latin typeface="Arial" pitchFamily="34" charset="0"/>
              </a:rPr>
              <a:t>worker_ai (Drafting)</a:t>
            </a:r>
          </a:p>
        </p:txBody>
      </p:sp>
      <p:sp>
        <p:nvSpPr>
          <p:cNvPr id="83" name="Txt_WDef"/>
          <p:cNvSpPr/>
          <p:nvPr/>
        </p:nvSpPr>
        <p:spPr>
          <a:xfrm>
            <a:off x="4153400" y="3390270"/>
            <a:ext cx="1219200" cy="279400"/>
          </a:xfrm>
          <a:prstGeom prst="rect">
            <a:avLst/>
          </a:prstGeom>
          <a:solidFill>
            <a:srgbClr val="DDD8F8"/>
          </a:solidFill>
          <a:ln w="12700">
            <a:solidFill>
              <a:srgbClr val="6B5FBE"/>
            </a:solidFill>
            <a:prstDash val="solid"/>
          </a:ln>
        </p:spPr>
        <p:txBody>
          <a:bodyPr wrap="square" rtlCol="0" anchor="ctr" lIns="60960" rIns="60960"/>
          <a:lstStyle/>
          <a:p>
            <a:pPr indent="0" marL="0" algn="ctr">
              <a:buNone/>
            </a:pPr>
            <a:r>
              <a:rPr lang="vi-VN" sz="900" b="1" dirty="0">
                <a:solidFill>
                  <a:srgbClr val="4B3FA0"/>
                </a:solidFill>
                <a:latin typeface="Arial" pitchFamily="34" charset="0"/>
              </a:rPr>
              <a:t>worker_default</a:t>
            </a:r>
          </a:p>
        </p:txBody>
      </p:sp>
      <p:sp>
        <p:nvSpPr>
          <p:cNvPr id="84" name="Txt_WIng"/>
          <p:cNvSpPr/>
          <p:nvPr/>
        </p:nvSpPr>
        <p:spPr>
          <a:xfrm>
            <a:off x="5487000" y="3390270"/>
            <a:ext cx="1219200" cy="279400"/>
          </a:xfrm>
          <a:prstGeom prst="rect">
            <a:avLst/>
          </a:prstGeom>
          <a:solidFill>
            <a:srgbClr val="DDD8F8"/>
          </a:solidFill>
          <a:ln w="12700">
            <a:solidFill>
              <a:srgbClr val="6B5FBE"/>
            </a:solidFill>
            <a:prstDash val="solid"/>
          </a:ln>
        </p:spPr>
        <p:txBody>
          <a:bodyPr wrap="square" rtlCol="0" anchor="ctr" lIns="60960" rIns="60960"/>
          <a:lstStyle/>
          <a:p>
            <a:pPr indent="0" marL="0" algn="ctr">
              <a:buNone/>
            </a:pPr>
            <a:r>
              <a:rPr lang="vi-VN" sz="900" b="1" dirty="0">
                <a:solidFill>
                  <a:srgbClr val="4B3FA0"/>
                </a:solidFill>
                <a:latin typeface="Arial" pitchFamily="34" charset="0"/>
              </a:rPr>
              <a:t>worker_ingestion</a:t>
            </a:r>
          </a:p>
        </p:txBody>
      </p:sp>
      <p:sp>
        <p:nvSpPr>
          <p:cNvPr id="90" name="Arr_Ollama"/>
          <p:cNvSpPr/>
          <p:nvPr/>
        </p:nvSpPr>
        <p:spPr>
          <a:xfrm>
            <a:off x="3429600" y="3741870"/>
            <a:ext cx="0" cy="200025"/>
          </a:xfrm>
          <a:prstGeom prst="line">
            <a:avLst/>
          </a:prstGeom>
          <a:noFill/>
          <a:ln w="19050" cap="flat">
            <a:solidFill>
              <a:srgbClr val="888888"/>
            </a:solidFill>
            <a:prstDash val="solid"/>
            <a:tailEnd type="triangle" w="sm" len="sm"/>
          </a:ln>
        </p:spPr>
      </p:sp>
      <p:sp>
        <p:nvSpPr>
          <p:cNvPr id="100" name="Box_Ollama"/>
          <p:cNvSpPr/>
          <p:nvPr/>
        </p:nvSpPr>
        <p:spPr>
          <a:xfrm>
            <a:off x="2438400" y="3941895"/>
            <a:ext cx="1981200" cy="50292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01" name="Bar_Ollama"/>
          <p:cNvSpPr/>
          <p:nvPr/>
        </p:nvSpPr>
        <p:spPr>
          <a:xfrm>
            <a:off x="2438400" y="3941895"/>
            <a:ext cx="57150" cy="502920"/>
          </a:xfrm>
          <a:prstGeom prst="rect">
            <a:avLst/>
          </a:prstGeom>
          <a:solidFill>
            <a:srgbClr val="C03030"/>
          </a:solidFill>
          <a:ln w="0">
            <a:noFill/>
          </a:ln>
        </p:spPr>
      </p:sp>
      <p:sp>
        <p:nvSpPr>
          <p:cNvPr id="102" name="Txt_Ollama"/>
          <p:cNvSpPr/>
          <p:nvPr/>
        </p:nvSpPr>
        <p:spPr>
          <a:xfrm>
            <a:off x="2520600" y="3941895"/>
            <a:ext cx="1899000" cy="502920"/>
          </a:xfrm>
          <a:prstGeom prst="rect">
            <a:avLst/>
          </a:prstGeom>
          <a:noFill/>
          <a:ln/>
        </p:spPr>
        <p:txBody>
          <a:bodyPr wrap="square" rtlCol="0" anchor="ctr" lIns="60960" rIns="60960"/>
          <a:lstStyle/>
          <a:p>
            <a:pPr indent="0" marL="0">
              <a:buNone/>
            </a:pPr>
            <a:r>
              <a:rPr lang="vi-VN" sz="1100" b="1" dirty="0">
                <a:solidFill>
                  <a:srgbClr val="C03030"/>
                </a:solidFill>
                <a:latin typeface="Arial" pitchFamily="34" charset="0"/>
              </a:rPr>
              <a:t>Ollama (local)</a:t>
            </a:r>
          </a:p>
          <a:p>
            <a:pPr indent="0" marL="0">
              <a:buNone/>
            </a:pPr>
            <a:r>
              <a:rPr lang="vi-VN" sz="850" dirty="0">
                <a:solidFill>
                  <a:srgbClr val="555555"/>
                </a:solidFill>
                <a:latin typeface="Arial" pitchFamily="34" charset="0"/>
              </a:rPr>
              <a:t>LLM + Embedding (local)</a:t>
            </a:r>
          </a:p>
        </p:txBody>
      </p:sp>
      <p:sp>
        <p:nvSpPr>
          <p:cNvPr id="110" name="FooterLine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1" name="FooterText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vi-VN" sz="900" dirty="0">
                <a:solidFill>
                  <a:srgbClr val="888888"/>
                </a:solidFill>
                <a:latin typeface="Arial" pitchFamily="34" charset="0"/>
              </a:rPr>
              <a:t>Knowledge Platform  |  Tai lieu Tong quan He thong  |  v2.0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Các module chức năng (10 module)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Phục vụ các nhóm người dùng khác nhau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|  Tài liệu Tổng quan Hệ thống  |  v2.0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384048" cy="6217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3444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2893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536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đáp ngôn ngữ tự nhiên, trả lời tổng hợp từ tài liệu thực tế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34440"/>
            <a:ext cx="384048" cy="6217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23444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12893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1536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vector (ngữ nghĩa) + BM25 (từ khóa)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1956816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1956816"/>
            <a:ext cx="384048" cy="6217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5681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2258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tài liệu từ Jira, Confluence, Slack, File Server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956816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956816"/>
            <a:ext cx="384048" cy="6217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95681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258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thị tri thức, GraphRAG 2-hop, visualize trên frontend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67919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679192"/>
            <a:ext cx="384048" cy="6217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67919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2734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 Drafts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2980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phát hiện task → PM/PO review → submit Jira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67919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679192"/>
            <a:ext cx="384048" cy="6217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67919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2734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Doc Drafts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980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SRS, BRD, ADR, Test Plan, Release Notes bằng AI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401568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3401568"/>
            <a:ext cx="384048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4015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" y="34564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Work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Chuỗi 9 AI agent từ requirement đến release (10–30 phút)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401568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401568"/>
            <a:ext cx="384048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4015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66360" y="34564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Memory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Glossary, Actor, Business Rule xuyên suốt dự án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123944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4123944"/>
            <a:ext cx="384048" cy="6217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123944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85800" y="4178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Prompts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" y="4425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tùy chỉnh system prompt cho từng loại tài liệu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4123944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4123944"/>
            <a:ext cx="384048" cy="6217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4123944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166360" y="4178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66360" y="4425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workflow nhiều bước AI (đang phát triển)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Hạ tầng hệ thống (bắt buộc)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một thành phần là hệ thống không khởi động được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|  Tài liệu Tổng quan Hệ thống  |  v2.0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188720"/>
            <a:ext cx="4114800" cy="3520440"/>
          </a:xfrm>
          <a:prstGeom prst="rect">
            <a:avLst/>
          </a:prstGeom>
          <a:solidFill>
            <a:srgbClr val="D6EFDF"/>
          </a:solidFill>
          <a:ln w="254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88720"/>
            <a:ext cx="411480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88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Ollama — Bộ não AI (local)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1627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toàn bộ AI hoàn toàn local — không gửi dữ liệu ra ngoài. Hiện dùng 3 model: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305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qwen2.5:14b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148840"/>
            <a:ext cx="146304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1488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chính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hiểu câu hỏi, tổng hợp câu trả lời, soạn thảo tài liệu SDLC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bge-m3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3017520"/>
            <a:ext cx="146304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017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3328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văn bản thành vector để tìm kiếm ngữ nghĩa (dim 1024)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79476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679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llava-phi3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3886200"/>
            <a:ext cx="146304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8862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(tắt mặc định)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" y="4197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và mô tả hình ảnh trong tài liệu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1188720"/>
            <a:ext cx="4297680" cy="1051560"/>
          </a:xfrm>
          <a:prstGeom prst="rect">
            <a:avLst/>
          </a:prstGeom>
          <a:solidFill>
            <a:srgbClr val="F4F6FA"/>
          </a:solidFill>
          <a:ln w="1905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188720"/>
            <a:ext cx="64008" cy="10515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1280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0016" y="15544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chính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0016" y="17647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toàn bộ thông tin: users, tài liệu, drafts, phân quyền, knowledge graph.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359152"/>
            <a:ext cx="4297680" cy="1051560"/>
          </a:xfrm>
          <a:prstGeom prst="rect">
            <a:avLst/>
          </a:prstGeom>
          <a:solidFill>
            <a:srgbClr val="F4F6FA"/>
          </a:solidFill>
          <a:ln w="19050">
            <a:solidFill>
              <a:srgbClr val="0D2B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359152"/>
            <a:ext cx="64008" cy="105156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2450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00016" y="27249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0016" y="293522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ngữ nghĩa — hỏi 'chi phí' vẫn tìm được tài liệu ghi 'budget'.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3529584"/>
            <a:ext cx="4297680" cy="1051560"/>
          </a:xfrm>
          <a:prstGeom prst="rect">
            <a:avLst/>
          </a:prstGeom>
          <a:solidFill>
            <a:srgbClr val="F4F6FA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3529584"/>
            <a:ext cx="6400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0016" y="36210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0016" y="3895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0016" y="410565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lịch xử lý ngầm — tạo tài liệu AI hoặc sync không làm treo giao diện.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Kết nối nguồn dữ liệu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Tùy chọn — không kết nối vẫn chạy được, nhưng sẽ không có dữ liệu để tìm kiếm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|  Tài liệu Tổng quan Hệ thống  |  v2.0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có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490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490472"/>
            <a:ext cx="54864" cy="594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1554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API token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8105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comments → tìm kiếm + tạo task tự động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85416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185416"/>
            <a:ext cx="54864" cy="594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494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249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API token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5054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wiki, tài liệu dự án → nguồn chính để hỏi đáp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80360"/>
            <a:ext cx="54864" cy="594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443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token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32004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nhắn theo channel → phát hiện tín hiệu task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575304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75304"/>
            <a:ext cx="54864" cy="594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6393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File 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639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+ credentials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38953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từ ổ mạng Windows shared folder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11704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Có thể mở rộng thêm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1490472"/>
            <a:ext cx="42976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490472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5544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Upload file trực tiếp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36592" y="181051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Excel upload thẳng giao diện — không cần connector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185416"/>
            <a:ext cx="42976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185416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2494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Google Drive / OneDrive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25054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 tài liệu từ cloud storage nếu team đang dùng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2880360"/>
            <a:ext cx="42976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880360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9443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(Outlook / Gmail)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36592" y="320040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biên bản họp, thông báo dự án vào kho tìm kiếm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3575304"/>
            <a:ext cx="42976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3575304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6393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GitHub / GitLab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6592" y="38953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wiki, PR description cho team Dev/QA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17720" y="4270248"/>
            <a:ext cx="429768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4270248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43342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Meeting Notes (Teams/Zoom)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36592" y="45902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họp — tìm lại quyết định đã thảo luận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Phân quyền người dùng (6 vai trò)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vai trò có quyền truy cập module khác nhau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|  Tài liệu Tổng quan Hệ thống  |  v2.0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07008"/>
            <a:ext cx="8686800" cy="530352"/>
          </a:xfrm>
          <a:prstGeom prst="rect">
            <a:avLst/>
          </a:prstGeom>
          <a:solidFill>
            <a:srgbClr val="F4F6FA"/>
          </a:solidFill>
          <a:ln w="12700">
            <a:solidFill>
              <a:srgbClr val="0D2B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07008"/>
            <a:ext cx="2377440" cy="53035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system_admin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20700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quyền tất cả module, quản lý users, trigger ingest, cấu hình hệ thống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28800"/>
            <a:ext cx="2377440" cy="5303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288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knowledge_architect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182880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Search, Documents, Graph, Skill Prompts, Project Memory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4F6F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450592"/>
            <a:ext cx="237744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505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pm_po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450592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Search, Documents, Graph + Tasks, Drafts, SDLC Suite, Workflows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72384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72384"/>
            <a:ext cx="237744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7238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ba_sa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072384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Search, Documents, Graph + Tasks, Drafts, SDLC Suite, Workflows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694176"/>
            <a:ext cx="8686800" cy="530352"/>
          </a:xfrm>
          <a:prstGeom prst="rect">
            <a:avLst/>
          </a:prstGeom>
          <a:solidFill>
            <a:srgbClr val="F4F6FA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94176"/>
            <a:ext cx="2377440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9417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dev_qa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694176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Search, Documents, Graph, Tasks (xem)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4315968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315968"/>
            <a:ext cx="2377440" cy="5303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159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431596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Search, Documents, Graph (xem cơ bản)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4008"/>
            <a:ext cx="9070848" cy="77724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&amp; 8. Bảo mật &amp; Hạn chế cần biết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 và những điều cần lưu ý trước khi triển khai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|  Tài liệu Tổng quan Hệ thống  |  v2.0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48737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Bảo mật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490472"/>
            <a:ext cx="4160520" cy="576072"/>
          </a:xfrm>
          <a:prstGeom prst="rect">
            <a:avLst/>
          </a:prstGeom>
          <a:solidFill>
            <a:srgbClr val="D6EFD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490472"/>
            <a:ext cx="54864" cy="5760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90472"/>
            <a:ext cx="3931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Embedding chạy hoàn toàn local qua Ollama — dữ liệu KHÔNG gửi ra cloud hay bên thứ ba.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176272"/>
            <a:ext cx="4160520" cy="576072"/>
          </a:xfrm>
          <a:prstGeom prst="rect">
            <a:avLst/>
          </a:prstGeom>
          <a:solidFill>
            <a:srgbClr val="D6EFD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76272"/>
            <a:ext cx="54864" cy="5760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76272"/>
            <a:ext cx="3931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pull data về lưu local — tài liệu Jira/Confluence/Slack không rời khỏi hạ tầng nội bộ.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" y="29077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Cần xử lý trước khi deploy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218688"/>
            <a:ext cx="4160520" cy="576072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218688"/>
            <a:ext cx="54864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218688"/>
            <a:ext cx="3931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Secret mặc định 'change-me-in-production' — BẮT BUỘC phải đổi trước khi deploy production.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904488"/>
            <a:ext cx="4160520" cy="576072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904488"/>
            <a:ext cx="54864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904488"/>
            <a:ext cx="3931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hiện set allow_origins=["*"] — cần giới hạn lại trước khi deploy production.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1704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Hạn chế thực tế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490472"/>
            <a:ext cx="4297680" cy="5760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490472"/>
            <a:ext cx="54864" cy="57607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5636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xử lý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36592" y="17922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9 bước: 10–30 phút. Drafting thường: 2–5 phút (LLM local chậm).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176272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176272"/>
            <a:ext cx="54864" cy="57607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2494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AI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24780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vào model Ollama và chất lượng tài liệu đầu vào.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862072"/>
            <a:ext cx="4297680" cy="5760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862072"/>
            <a:ext cx="54864" cy="57607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9352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production-ready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1638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mặc định, CORS mở, chưa có test suite đầy đủ.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3547872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547872"/>
            <a:ext cx="54864" cy="57607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6210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HA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36592" y="38496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load balancing hay failover — chỉ phù hợp nội bộ.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4233672"/>
            <a:ext cx="4297680" cy="5760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4233672"/>
            <a:ext cx="54864" cy="576072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306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không fallback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36592" y="45354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Ollama down, toàn bộ tính năng AI đình trệ.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C"/>
          </a:solidFill>
          <a:ln w="12700">
            <a:solidFill>
              <a:srgbClr val="0D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Bước tiếp theo đề xuất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Ngắn hạn — trước khi deploy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023360" cy="603504"/>
          </a:xfrm>
          <a:prstGeom prst="rect">
            <a:avLst/>
          </a:prstGeom>
          <a:solidFill>
            <a:srgbClr val="0A205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1704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JWT_SECRET và giới hạn CORS cho môi trường production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4023360" cy="603504"/>
          </a:xfrm>
          <a:prstGeom prst="rect">
            <a:avLst/>
          </a:prstGeom>
          <a:solidFill>
            <a:srgbClr val="0A205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83664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188366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PostgreSQL và Ollama trên server nội bộ, pull model qwen2.5:14b + bge-m3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4023360" cy="603504"/>
          </a:xfrm>
          <a:prstGeom prst="rect">
            <a:avLst/>
          </a:prstGeom>
          <a:solidFill>
            <a:srgbClr val="0A205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5968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Connector đầu tiên (Confluence hoặc Jira) để nạp tài liệu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Dài hạn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170432"/>
            <a:ext cx="4023360" cy="603504"/>
          </a:xfrm>
          <a:prstGeom prst="rect">
            <a:avLst/>
          </a:prstGeom>
          <a:solidFill>
            <a:srgbClr val="0A2050"/>
          </a:solidFill>
          <a:ln w="12700">
            <a:solidFill>
              <a:srgbClr val="4488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70432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0368" y="11704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test suite (unit + integration) đầy đủ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883664"/>
            <a:ext cx="4023360" cy="603504"/>
          </a:xfrm>
          <a:prstGeom prst="rect">
            <a:avLst/>
          </a:prstGeom>
          <a:solidFill>
            <a:srgbClr val="0A2050"/>
          </a:solidFill>
          <a:ln w="12700">
            <a:solidFill>
              <a:srgbClr val="4488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883664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188366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High Availability nếu mở rộng người dùng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96896"/>
            <a:ext cx="4023360" cy="603504"/>
          </a:xfrm>
          <a:prstGeom prst="rect">
            <a:avLst/>
          </a:prstGeom>
          <a:solidFill>
            <a:srgbClr val="0A2050"/>
          </a:solidFill>
          <a:ln w="12700">
            <a:solidFill>
              <a:srgbClr val="4488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96896"/>
            <a:ext cx="4389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259689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module AI Workflows và đánh giá chính thức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3886200"/>
            <a:ext cx="5852160" cy="914400"/>
          </a:xfrm>
          <a:prstGeom prst="rect">
            <a:avLst/>
          </a:prstGeom>
          <a:solidFill>
            <a:srgbClr val="0A2050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3886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ơn!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43434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Platform  •  Internal Tool  •  v2.0  •  30/03/2026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2026-03-31T03:02:55Z</dcterms:created>
  <dcterms:modified xsi:type="dcterms:W3CDTF">2026-03-31T03:02:55Z</dcterms:modified>
</cp:coreProperties>
</file>